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Footwear</c:v>
                </c:pt>
                <c:pt idx="1">
                  <c:v>Sports</c:v>
                </c:pt>
                <c:pt idx="2">
                  <c:v>Electronics</c:v>
                </c:pt>
                <c:pt idx="3">
                  <c:v>Home Decor</c:v>
                </c:pt>
                <c:pt idx="4">
                  <c:v>Accessories</c:v>
                </c:pt>
                <c:pt idx="5">
                  <c:v>Clothing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35000</c:v>
                </c:pt>
                <c:pt idx="1">
                  <c:v>120000</c:v>
                </c:pt>
                <c:pt idx="2">
                  <c:v>155000</c:v>
                </c:pt>
                <c:pt idx="3">
                  <c:v>180000</c:v>
                </c:pt>
                <c:pt idx="4">
                  <c:v>280000</c:v>
                </c:pt>
                <c:pt idx="5">
                  <c:v>360000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C1-4419-875D-24C0AEF18F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59-4E55-80D3-45DE6ED400AA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59-4E55-80D3-45DE6ED400A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59-4E55-80D3-45DE6ED400A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59-4E55-80D3-45DE6ED400A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 (53.7%)</c:v>
                </c:pt>
                <c:pt idx="1">
                  <c:v>Male (46.3%)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660210</c:v>
                </c:pt>
                <c:pt idx="1">
                  <c:v>569250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59-4E55-80D3-45DE6ED400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B2B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A1-4C98-A0B5-BED61DB0FFA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0A1-4C98-A0B5-BED61DB0FFA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0A1-4C98-A0B5-BED61DB0FFA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0A1-4C98-A0B5-BED61DB0FFA5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A1-4C98-A0B5-BED61DB0FFA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Houston</c:v>
                </c:pt>
                <c:pt idx="1">
                  <c:v>Miami</c:v>
                </c:pt>
                <c:pt idx="2">
                  <c:v>Los Angeles</c:v>
                </c:pt>
                <c:pt idx="3">
                  <c:v>Chicago</c:v>
                </c:pt>
                <c:pt idx="4">
                  <c:v>New York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190276</c:v>
                </c:pt>
                <c:pt idx="1">
                  <c:v>193080</c:v>
                </c:pt>
                <c:pt idx="2">
                  <c:v>202584</c:v>
                </c:pt>
                <c:pt idx="3">
                  <c:v>205406</c:v>
                </c:pt>
                <c:pt idx="4">
                  <c:v>210290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A1-4C98-A0B5-BED61DB0FF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D5-4FCA-8AEA-84D639E6063E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D5-4FCA-8AEA-84D639E6063E}"/>
              </c:ext>
            </c:extLst>
          </c:dPt>
          <c:dPt>
            <c:idx val="2"/>
            <c:invertIfNegative val="0"/>
            <c:bubble3D val="0"/>
            <c:spPr>
              <a:solidFill>
                <a:srgbClr val="1B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D5-4FCA-8AEA-84D639E6063E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D5-4FCA-8AEA-84D639E606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Summer</c:v>
                </c:pt>
                <c:pt idx="1">
                  <c:v>Winter</c:v>
                </c:pt>
                <c:pt idx="2">
                  <c:v>Fall</c:v>
                </c:pt>
                <c:pt idx="3">
                  <c:v>Spring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282918</c:v>
                </c:pt>
                <c:pt idx="1">
                  <c:v>301952</c:v>
                </c:pt>
                <c:pt idx="2">
                  <c:v>313976</c:v>
                </c:pt>
                <c:pt idx="3">
                  <c:v>330614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D5-4FCA-8AEA-84D639E606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17-4939-907C-B95CCC2168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517-4939-907C-B95CCC21682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517-4939-907C-B95CCC21682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517-4939-907C-B95CCC21682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517-4939-907C-B95CCC21682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517-4939-907C-B95CCC216828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517-4939-907C-B95CCC216828}"/>
              </c:ext>
            </c:extLst>
          </c:dPt>
          <c:dPt>
            <c:idx val="7"/>
            <c:invertIfNegative val="0"/>
            <c:bubble3D val="0"/>
            <c:spPr>
              <a:solidFill>
                <a:srgbClr val="1B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517-4939-907C-B95CCC2168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Debit Card</c:v>
                </c:pt>
                <c:pt idx="1">
                  <c:v>Bank Transfer</c:v>
                </c:pt>
                <c:pt idx="2">
                  <c:v>PayPal</c:v>
                </c:pt>
                <c:pt idx="3">
                  <c:v>Cash</c:v>
                </c:pt>
                <c:pt idx="4">
                  <c:v>Venmo</c:v>
                </c:pt>
                <c:pt idx="5">
                  <c:v>Credit Card</c:v>
                </c:pt>
                <c:pt idx="6">
                  <c:v>Standard</c:v>
                </c:pt>
                <c:pt idx="7">
                  <c:v>Express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40000</c:v>
                </c:pt>
                <c:pt idx="1">
                  <c:v>40000</c:v>
                </c:pt>
                <c:pt idx="2">
                  <c:v>40000</c:v>
                </c:pt>
                <c:pt idx="3">
                  <c:v>40000</c:v>
                </c:pt>
                <c:pt idx="4">
                  <c:v>40000</c:v>
                </c:pt>
                <c:pt idx="5">
                  <c:v>40000</c:v>
                </c:pt>
                <c:pt idx="6">
                  <c:v>500000</c:v>
                </c:pt>
                <c:pt idx="7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517-4939-907C-B95CCC2168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FF0-4445-BDCF-4ADAF3BFD129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F0-4445-BDCF-4ADAF3BFD129}"/>
              </c:ext>
            </c:extLst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F0-4445-BDCF-4ADAF3BFD129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FF0-4445-BDCF-4ADAF3BFD12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F0-4445-BDCF-4ADAF3BFD12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F0-4445-BDCF-4ADAF3BFD12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FF0-4445-BDCF-4ADAF3BFD12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FF0-4445-BDCF-4ADAF3BFD12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50s</c:v>
                </c:pt>
                <c:pt idx="1">
                  <c:v>40s</c:v>
                </c:pt>
                <c:pt idx="2">
                  <c:v>30s</c:v>
                </c:pt>
                <c:pt idx="3">
                  <c:v>20s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861</c:v>
                </c:pt>
                <c:pt idx="1">
                  <c:v>835</c:v>
                </c:pt>
                <c:pt idx="2">
                  <c:v>819</c:v>
                </c:pt>
                <c:pt idx="3">
                  <c:v>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FF0-4445-BDCF-4ADAF3BFD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Spending (USD)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DE-4E45-A384-6E2F038D7C59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DE-4E45-A384-6E2F038D7C59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DE-4E45-A384-6E2F038D7C59}"/>
              </c:ext>
            </c:extLst>
          </c:dPt>
          <c:dPt>
            <c:idx val="3"/>
            <c:invertIfNegative val="0"/>
            <c:bubble3D val="0"/>
            <c:spPr>
              <a:solidFill>
                <a:srgbClr val="1B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DE-4E45-A384-6E2F038D7C59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9DE-4E45-A384-6E2F038D7C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Teen (0-18)</c:v>
                </c:pt>
                <c:pt idx="1">
                  <c:v>Young Adult (18-25)</c:v>
                </c:pt>
                <c:pt idx="2">
                  <c:v>Adult (25-35)</c:v>
                </c:pt>
                <c:pt idx="3">
                  <c:v>Senior (50+)</c:v>
                </c:pt>
                <c:pt idx="4">
                  <c:v>Middle Age (35-50)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24303</c:v>
                </c:pt>
                <c:pt idx="1">
                  <c:v>178092</c:v>
                </c:pt>
                <c:pt idx="2">
                  <c:v>246761</c:v>
                </c:pt>
                <c:pt idx="3">
                  <c:v>382514</c:v>
                </c:pt>
                <c:pt idx="4">
                  <c:v>397789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9DE-4E45-A384-6E2F038D7C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12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A1228">
              <a:alpha val="80000"/>
            </a:srgbClr>
          </a:solidFill>
          <a:ln w="12700">
            <a:solidFill>
              <a:srgbClr val="0A1228">
                <a:alpha val="8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256032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2560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CDACL-002 · Customer Segmentation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Behavior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365760" y="3090672"/>
            <a:ext cx="34747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20040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on Spending, Segmentation &amp; Trends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3703320"/>
            <a:ext cx="4754880" cy="1170432"/>
          </a:xfrm>
          <a:prstGeom prst="rect">
            <a:avLst/>
          </a:prstGeom>
          <a:solidFill>
            <a:srgbClr val="0D1F40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749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400507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Bharanidharan  ·  Vishnu  ·  Kartik Raja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4389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Source: Customer Purchase Behavior Dataset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989320" y="1005840"/>
            <a:ext cx="1444752" cy="1417320"/>
          </a:xfrm>
          <a:prstGeom prst="rect">
            <a:avLst/>
          </a:prstGeom>
          <a:solidFill>
            <a:srgbClr val="0D1F40">
              <a:alpha val="9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89320" y="1078992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989320" y="141732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$1.23M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989320" y="192024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62088" y="1005840"/>
            <a:ext cx="1444752" cy="1417320"/>
          </a:xfrm>
          <a:prstGeom prst="rect">
            <a:avLst/>
          </a:prstGeom>
          <a:solidFill>
            <a:srgbClr val="0D1F40">
              <a:alpha val="9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562088" y="1078992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562088" y="141732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562088" y="192024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89320" y="2633472"/>
            <a:ext cx="1444752" cy="1417320"/>
          </a:xfrm>
          <a:prstGeom prst="rect">
            <a:avLst/>
          </a:prstGeom>
          <a:solidFill>
            <a:srgbClr val="0D1F40">
              <a:alpha val="9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89320" y="2706624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989320" y="304495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$307.50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989320" y="3547872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62088" y="2633472"/>
            <a:ext cx="1444752" cy="1417320"/>
          </a:xfrm>
          <a:prstGeom prst="rect">
            <a:avLst/>
          </a:prstGeom>
          <a:solidFill>
            <a:srgbClr val="0D1F40">
              <a:alpha val="9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562088" y="2706624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562088" y="304495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3.92 ★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562088" y="3547872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852160" y="731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4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577840" y="1005840"/>
          <a:ext cx="32918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3794760"/>
            <a:ext cx="329184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623560" y="3822192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Female customers lead revenue at 53.7%, while Clothing is the top category at ~$360K.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Seasonal Revenue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Location (Top Cities)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731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Season</a:t>
            </a:r>
            <a:endParaRPr lang="en-US" sz="14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577840" y="1051560"/>
          <a:ext cx="3291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206240"/>
            <a:ext cx="2468880" cy="731520"/>
          </a:xfrm>
          <a:prstGeom prst="rect">
            <a:avLst/>
          </a:prstGeom>
          <a:solidFill>
            <a:srgbClr val="1B2B5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206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New York: Top city by revenue: $210K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17520" y="4206240"/>
            <a:ext cx="2468880" cy="731520"/>
          </a:xfrm>
          <a:prstGeom prst="rect">
            <a:avLst/>
          </a:prstGeom>
          <a:solidFill>
            <a:srgbClr val="1B2B5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017520" y="4206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Spring: Highest seasonal revenue: $330K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Method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731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</a:t>
            </a:r>
            <a:endParaRPr lang="en-US" sz="14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486400" y="1005840"/>
          <a:ext cx="3383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486400" y="3794760"/>
            <a:ext cx="338328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32120" y="3822192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Express &amp; Standard payment methods drive ~92% of total revenue. 50s age group makes most frequent purchases.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Spending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7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8595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06240"/>
            <a:ext cx="196596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206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Age (35-50)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$397,789 · 31% share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4206240"/>
            <a:ext cx="196596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3160" y="4206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(50+)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$382,514 · 30% share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4206240"/>
            <a:ext cx="196596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4206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(25-35)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$246,761 · 19% share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20840" y="4206240"/>
            <a:ext cx="196596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206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$178,092 · 14% share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–  K-Means Clustering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customer clusters identified via K-Means (k=4) on Age, Purchase Amount, Review Rating &amp; Previous Purchases: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91440" cy="17830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 ·  High-Value Seniors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$78.1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26464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14016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 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14016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01568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Purchases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" y="2286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Older, big spenders with high satisfaction and many past purchases.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80160"/>
            <a:ext cx="91440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 ·  Moderate Mid-Agers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15584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15584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03136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4.19 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03136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90688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90688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Purchases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28032" y="2286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Mid-age group, low spend, good reviews — potential to upsell.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2004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00400"/>
            <a:ext cx="91440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 ·  Young Budget Shoppers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8912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426464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$76.5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26464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414016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 ★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14016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01568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01568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Purchases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8912" y="4206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but moderate spend. Lower satisfaction — needs attention.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2004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200400"/>
            <a:ext cx="91440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 ·  Experienced Low Spenders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28032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28032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15584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815584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03136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 ★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03136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790688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790688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Purchases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28032" y="4206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loyal customers with many purchases but lower spend &amp; rating.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2743200" cy="1828800"/>
          </a:xfrm>
          <a:prstGeom prst="rect">
            <a:avLst/>
          </a:prstGeom>
          <a:solidFill>
            <a:srgbClr val="1B2B5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Middle-Age &amp; Senior Segments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35-50 and 50+ together account for 61% of total revenue. Loyalty programs, premium products, and personalized offers for these groups will drive the most return.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868680"/>
            <a:ext cx="2743200" cy="1828800"/>
          </a:xfrm>
          <a:prstGeom prst="rect">
            <a:avLst/>
          </a:prstGeom>
          <a:solidFill>
            <a:srgbClr val="1B2B5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960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01568" y="13075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Spring Campaigns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783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generates the highest seasonal revenue ($330K). Seasonal promotions, early-bird deals, and targeted spring marketing can amplify this natural peak further.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868680"/>
            <a:ext cx="2743200" cy="1828800"/>
          </a:xfrm>
          <a:prstGeom prst="rect">
            <a:avLst/>
          </a:prstGeom>
          <a:solidFill>
            <a:srgbClr val="1B2B5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0216" y="960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0216" y="13075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New York &amp; Chicago Presence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0216" y="1783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and Chicago lead all cities. Physical retail or hyper-local digital ads in these metros can unlock further growth with proven high-spending audiences.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743200" cy="1828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33192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to Express &amp; Standard Payments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and Standard account for ~92% of revenue. Prioritizing checkout UX for these methods will reduce drop-offs for the vast majority of customers.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64408" y="2880360"/>
            <a:ext cx="2743200" cy="1828800"/>
          </a:xfrm>
          <a:prstGeom prst="rect">
            <a:avLst/>
          </a:prstGeom>
          <a:solidFill>
            <a:srgbClr val="1B2B5E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01568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01568" y="33192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Cluster 2 (Young Budget Shoppers)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3794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customers (avg 32) have lower ratings (3.30). Post-purchase surveys, improved product quality signals, and targeted offers can convert them to higher-rated segments.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2880360"/>
            <a:ext cx="2743200" cy="1828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0216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0216" y="33192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Clothing &amp; Accessories Categories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0216" y="3794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Accessories are the top two revenue categories. Wider assortment, bundle deals, and seasonal collections can sustain and grow these dominant product lines.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On-screen Show (16:9)</PresentationFormat>
  <Paragraphs>121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Purchase Behavior Analysis</dc:title>
  <dc:subject>PptxGenJS Presentation</dc:subject>
  <dc:creator>PptxGenJS</dc:creator>
  <cp:lastModifiedBy>Purushothaman J</cp:lastModifiedBy>
  <cp:revision>2</cp:revision>
  <dcterms:created xsi:type="dcterms:W3CDTF">2026-05-01T07:11:56Z</dcterms:created>
  <dcterms:modified xsi:type="dcterms:W3CDTF">2026-05-01T07:14:06Z</dcterms:modified>
</cp:coreProperties>
</file>